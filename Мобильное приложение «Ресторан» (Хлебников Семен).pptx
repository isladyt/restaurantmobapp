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3" r:id="rId6"/>
    <p:sldId id="269" r:id="rId7"/>
    <p:sldId id="271" r:id="rId8"/>
    <p:sldId id="277" r:id="rId9"/>
    <p:sldId id="276" r:id="rId10"/>
    <p:sldId id="267" r:id="rId1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4" autoAdjust="0"/>
  </p:normalViewPr>
  <p:slideViewPr>
    <p:cSldViewPr snapToGrid="0">
      <p:cViewPr varScale="1">
        <p:scale>
          <a:sx n="74" d="100"/>
          <a:sy n="74" d="100"/>
        </p:scale>
        <p:origin x="72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839D37AB-764B-4ACF-973B-7F810CBDA8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25F04718-CFF8-40A2-B8EB-59CA1ACB85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A4B5-D140-490E-8D03-B70012B5A6D1}" type="datetime1">
              <a:rPr lang="ru-RU" smtClean="0"/>
              <a:t>24.11.2025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35F6F49-20F3-4FD8-A6CE-7361ADD229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491807D0-F2A4-4B69-A7EC-D9A4D94890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752F2-E172-4BD4-A43A-2E23B07ED8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499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ED7F2-571E-4189-A38B-DB1E62DD2F92}" type="datetime1">
              <a:rPr lang="ru-RU" smtClean="0"/>
              <a:pPr/>
              <a:t>24.11.2025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61EC3-BEA3-430C-8283-68025705DDF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57300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1EC3-BEA3-430C-8283-68025705DDF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87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61EC3-BEA3-430C-8283-68025705DDF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64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663CB3-031B-4322-9B39-0C663A84FF6B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E7FBDD-B546-4F89-A271-215CA65CF96F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5C673F-0519-45DD-83E6-D26ADD1EEE5C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B3D844-B2A7-4A3C-832D-69289F9A2292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79C44-F1CF-441E-99FD-712B496103FA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D308E7-F0A1-43DF-B765-09E3BE2C9938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0A5B94-615E-4ECF-9834-CCA5B2882595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DE9A6A-5FF4-4BC8-BE9D-D0B28E07ED08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C82C95-57CB-4637-908D-E009952AF30F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3E3FE9-B737-4871-8DC6-C686E2D2E7D3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8" name="Текст 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221D3A-2595-4E89-BD59-A51E0B4C4808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Текст 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2D43AE-1D8D-4026-BBC4-3D1AFE2A3809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9" name="Надпись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«</a:t>
            </a:r>
          </a:p>
        </p:txBody>
      </p:sp>
      <p:sp>
        <p:nvSpPr>
          <p:cNvPr id="13" name="Надпись 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»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B95D7-8B2C-4D7A-8452-E64C17750E10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ойной столбе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6" name="Текст 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" name="Текст 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Текст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17" name="Прямая соединительная линия 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 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C4234C-A75C-425C-984C-313B4C2F5ED2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9" name="Рисунок 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22" name="Текст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Рисунок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" name="Текст 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1" name="Рисунок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изображение</a:t>
            </a:r>
          </a:p>
        </p:txBody>
      </p:sp>
      <p:sp>
        <p:nvSpPr>
          <p:cNvPr id="24" name="Текст 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17" name="Прямая соединительная линия 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 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72FF69-75E4-47A6-B407-F71C4142FD3D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 anchorCtr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8909E9-A188-451B-89E1-4745E905AF5A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2E9C98-CDFE-4F0E-AC53-E63DA2D354D3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 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Овал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39671958-9150-4522-9DD7-0CB409C454A6}" type="datetime1">
              <a:rPr lang="ru-RU" noProof="0" smtClean="0"/>
              <a:t>24.11.2025</a:t>
            </a:fld>
            <a:endParaRPr lang="ru-RU" noProof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ru-RU" noProof="0" smtClean="0"/>
              <a:t>‹#›</a:t>
            </a:fld>
            <a:endParaRPr lang="ru-RU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 4" descr="связи цепочки">
            <a:extLst>
              <a:ext uri="{FF2B5EF4-FFF2-40B4-BE49-F238E27FC236}">
                <a16:creationId xmlns:a16="http://schemas.microsoft.com/office/drawing/2014/main" xmlns="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799"/>
            <a:ext cx="9882090" cy="3329581"/>
          </a:xfrm>
        </p:spPr>
        <p:txBody>
          <a:bodyPr rtlCol="0">
            <a:noAutofit/>
          </a:bodyPr>
          <a:lstStyle/>
          <a:p>
            <a:pPr rtl="0"/>
            <a:r>
              <a:rPr lang="ru-RU" sz="6000" dirty="0"/>
              <a:t>Мобильное приложение «Ресторан»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xmlns="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55397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Выполнил: Хлебников Семён </a:t>
            </a:r>
          </a:p>
          <a:p>
            <a:pPr rtl="0"/>
            <a:r>
              <a:rPr lang="ru-RU" dirty="0"/>
              <a:t>Группа: 411ис-22</a:t>
            </a:r>
            <a:endParaRPr lang="en-US" dirty="0"/>
          </a:p>
          <a:p>
            <a:pPr rtl="0"/>
            <a:r>
              <a:rPr lang="ru-RU" dirty="0"/>
              <a:t>Руководитель: Кусков </a:t>
            </a:r>
            <a:r>
              <a:rPr lang="ru-RU" dirty="0" err="1" smtClean="0"/>
              <a:t>ФЁдор</a:t>
            </a:r>
            <a:r>
              <a:rPr lang="ru-RU" dirty="0" smtClean="0"/>
              <a:t> </a:t>
            </a:r>
            <a:r>
              <a:rPr lang="ru-RU" dirty="0" err="1"/>
              <a:t>витальевич</a:t>
            </a:r>
            <a:endParaRPr lang="ru-RU" dirty="0"/>
          </a:p>
        </p:txBody>
      </p:sp>
      <p:sp>
        <p:nvSpPr>
          <p:cNvPr id="20" name="Прямоугольник 19">
            <a:extLst>
              <a:ext uri="{FF2B5EF4-FFF2-40B4-BE49-F238E27FC236}">
                <a16:creationId xmlns:a16="http://schemas.microsoft.com/office/drawing/2014/main" xmlns="" id="{318E9D62-7BA3-4D5E-8915-0D0E8661E3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4E31EE1-7904-43C2-7568-B200C7FC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Обоснование выбора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9AF0D2C-788E-82C8-9487-B4A64D750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093984" cy="419548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effectLst/>
              </a:rPr>
              <a:t>Цифровизация сферы услуг:</a:t>
            </a:r>
            <a:r>
              <a:rPr lang="ru-RU" b="0" i="0" u="none" strike="noStrike" dirty="0">
                <a:effectLst/>
              </a:rPr>
              <a:t> Общественное питание активно переходит в онлайн-формат.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effectLst/>
              </a:rPr>
              <a:t>Повышенный спрос на удобство:</a:t>
            </a:r>
            <a:r>
              <a:rPr lang="ru-RU" b="0" i="0" u="none" strike="noStrike" dirty="0">
                <a:effectLst/>
              </a:rPr>
              <a:t> Клиенты хотят заказывать еду быстро, без звонков и долгого ожидания.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u="none" strike="noStrike" dirty="0">
                <a:effectLst/>
              </a:rPr>
              <a:t>Конкурентное преимущество:</a:t>
            </a:r>
            <a:r>
              <a:rPr lang="ru-RU" b="0" i="0" u="none" strike="noStrike" dirty="0">
                <a:effectLst/>
              </a:rPr>
              <a:t> Наличие собственного приложения выделяет ресторан на фоне конкурентов, использующих только </a:t>
            </a:r>
            <a:r>
              <a:rPr lang="ru-RU" b="0" i="0" u="none" strike="noStrike" dirty="0" err="1">
                <a:effectLst/>
              </a:rPr>
              <a:t>агрегаторы</a:t>
            </a:r>
            <a:r>
              <a:rPr lang="ru-RU" b="0" i="0" u="none" strike="noStrike" dirty="0" smtClean="0">
                <a:effectLst/>
              </a:rPr>
              <a:t>.</a:t>
            </a:r>
            <a:endParaRPr lang="ru-RU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486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446F2DF-F289-4CAE-AE05-DFA192E5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FC6F80C-B808-4EFC-914D-0AFFFA066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u="none" strike="noStrike" dirty="0" smtClean="0">
                <a:effectLst/>
              </a:rPr>
              <a:t>Создан </a:t>
            </a:r>
            <a:r>
              <a:rPr lang="ru-RU" b="1" i="0" u="none" strike="noStrike" dirty="0">
                <a:effectLst/>
              </a:rPr>
              <a:t>удобный и функциональный инструмент</a:t>
            </a:r>
            <a:r>
              <a:rPr lang="ru-RU" b="0" i="0" u="none" strike="noStrike" dirty="0">
                <a:effectLst/>
              </a:rPr>
              <a:t> для повышения лояльности клиентов и увеличения среднего чека.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u="none" strike="noStrike" dirty="0" smtClean="0">
                <a:effectLst/>
              </a:rPr>
              <a:t>Автоматизирован процесс</a:t>
            </a:r>
            <a:r>
              <a:rPr lang="ru-RU" b="0" i="0" u="none" strike="noStrike" dirty="0">
                <a:effectLst/>
              </a:rPr>
              <a:t> заказа </a:t>
            </a:r>
            <a:r>
              <a:rPr lang="ru-RU" b="0" i="0" u="none" strike="noStrike" dirty="0" smtClean="0">
                <a:effectLst/>
              </a:rPr>
              <a:t>для </a:t>
            </a:r>
            <a:r>
              <a:rPr lang="ru-RU" b="0" i="0" u="none" strike="noStrike" dirty="0">
                <a:effectLst/>
              </a:rPr>
              <a:t>снижения нагрузки на</a:t>
            </a:r>
            <a:r>
              <a:rPr lang="en-US" b="0" i="0" u="none" strike="noStrike" dirty="0">
                <a:effectLst/>
              </a:rPr>
              <a:t> </a:t>
            </a:r>
            <a:r>
              <a:rPr lang="ru-RU" b="0" i="0" u="none" strike="noStrike" dirty="0">
                <a:effectLst/>
              </a:rPr>
              <a:t>сотрудников</a:t>
            </a:r>
            <a:r>
              <a:rPr lang="en" b="0" i="0" u="none" strike="noStrike" dirty="0" smtClean="0">
                <a:effectLst/>
              </a:rPr>
              <a:t>.</a:t>
            </a:r>
            <a:endParaRPr lang="en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1221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12E023A-B8DB-4F18-879E-4CED40D8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36152ED-6754-4D2F-B5B3-EE4436D3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51858"/>
            <a:ext cx="8946541" cy="499654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b="1" i="0" u="none" strike="noStrike" dirty="0">
                <a:effectLst/>
              </a:rPr>
              <a:t>	Для гостя:</a:t>
            </a:r>
            <a:r>
              <a:rPr lang="ru-RU" b="1" dirty="0"/>
              <a:t>	</a:t>
            </a:r>
            <a:r>
              <a:rPr lang="ru-RU" b="1" i="0" u="none" strike="noStrike" dirty="0">
                <a:effectLst/>
              </a:rPr>
              <a:t>	</a:t>
            </a:r>
            <a:endParaRPr lang="ru-RU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⭐ </a:t>
            </a:r>
            <a:r>
              <a:rPr lang="ru-RU" sz="2000" b="1" dirty="0"/>
              <a:t>Авторизация и регистрация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📋 </a:t>
            </a:r>
            <a:r>
              <a:rPr lang="ru-RU" sz="2000" b="1" i="0" u="none" strike="noStrike" dirty="0">
                <a:effectLst/>
              </a:rPr>
              <a:t>Интерактивное меню</a:t>
            </a:r>
            <a:r>
              <a:rPr lang="ru-RU" sz="2000" b="0" i="0" u="none" strike="noStrike" dirty="0">
                <a:effectLst/>
              </a:rPr>
              <a:t> (фото, описание</a:t>
            </a:r>
            <a:r>
              <a:rPr lang="ru-RU" sz="2000" b="0" i="0" u="none" strike="noStrike" dirty="0" smtClean="0">
                <a:effectLst/>
              </a:rPr>
              <a:t>, </a:t>
            </a:r>
            <a:r>
              <a:rPr lang="ru-RU" sz="2000" b="0" i="0" u="none" strike="noStrike" dirty="0">
                <a:effectLst/>
              </a:rPr>
              <a:t>фильтры).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🛒 </a:t>
            </a:r>
            <a:r>
              <a:rPr lang="ru-RU" sz="2000" b="1" i="0" u="none" strike="noStrike" dirty="0">
                <a:effectLst/>
              </a:rPr>
              <a:t>Корзина </a:t>
            </a:r>
            <a:r>
              <a:rPr lang="ru-RU" sz="2000" i="0" u="none" strike="noStrike" dirty="0">
                <a:effectLst/>
              </a:rPr>
              <a:t>(добавление и удаление, количество блюд)</a:t>
            </a:r>
            <a:r>
              <a:rPr lang="ru-RU" sz="2000" b="0" i="0" u="none" strike="noStrike" dirty="0"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💳 </a:t>
            </a:r>
            <a:r>
              <a:rPr lang="ru-RU" sz="2000" b="1" dirty="0"/>
              <a:t>С</a:t>
            </a:r>
            <a:r>
              <a:rPr lang="ru-RU" sz="2000" b="1" i="0" u="none" strike="noStrike" dirty="0">
                <a:effectLst/>
              </a:rPr>
              <a:t>пособы оплаты</a:t>
            </a:r>
            <a:r>
              <a:rPr lang="ru-RU" sz="2000" b="0" i="0" u="none" strike="noStrike" dirty="0">
                <a:effectLst/>
              </a:rPr>
              <a:t> (карта</a:t>
            </a:r>
            <a:r>
              <a:rPr lang="en" sz="2000" b="0" i="0" u="none" strike="noStrike" dirty="0">
                <a:effectLst/>
              </a:rPr>
              <a:t>, </a:t>
            </a:r>
            <a:r>
              <a:rPr lang="ru-RU" sz="2000" b="0" i="0" u="none" strike="noStrike" dirty="0">
                <a:effectLst/>
              </a:rPr>
              <a:t>наличные).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📍 </a:t>
            </a:r>
            <a:r>
              <a:rPr lang="ru-RU" sz="2000" b="1" i="0" u="none" strike="noStrike" dirty="0">
                <a:effectLst/>
              </a:rPr>
              <a:t>Статус заказа</a:t>
            </a:r>
            <a:r>
              <a:rPr lang="ru-RU" sz="2000" b="0" i="0" u="none" strike="noStrike" dirty="0">
                <a:effectLst/>
              </a:rPr>
              <a:t> (принят, готовится и т.д</a:t>
            </a:r>
            <a:r>
              <a:rPr lang="ru-RU" sz="2000" b="0" i="0" u="none" strike="noStrike" dirty="0" smtClean="0">
                <a:effectLst/>
              </a:rPr>
              <a:t>.).</a:t>
            </a:r>
            <a:endParaRPr lang="ru-RU" sz="2000" b="0" i="0" u="none" strike="noStrike" dirty="0">
              <a:effectLst/>
            </a:endParaRPr>
          </a:p>
          <a:p>
            <a:pPr marL="0" indent="0" algn="l">
              <a:buNone/>
            </a:pPr>
            <a:r>
              <a:rPr lang="ru-RU" b="1" i="0" u="none" strike="noStrike" dirty="0">
                <a:effectLst/>
              </a:rPr>
              <a:t>	Для ресторана (Админ-панель):</a:t>
            </a:r>
            <a:endParaRPr lang="ru-RU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⭐ </a:t>
            </a:r>
            <a:r>
              <a:rPr lang="ru-RU" sz="2000" b="1" i="0" u="none" strike="noStrike" dirty="0">
                <a:effectLst/>
              </a:rPr>
              <a:t>Авторизация</a:t>
            </a:r>
            <a:endParaRPr lang="ru-RU" sz="2000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🛠 </a:t>
            </a:r>
            <a:r>
              <a:rPr lang="ru-RU" sz="2000" b="1" i="0" u="none" strike="noStrike" dirty="0">
                <a:effectLst/>
              </a:rPr>
              <a:t>Управление меню</a:t>
            </a:r>
            <a:r>
              <a:rPr lang="ru-RU" sz="2000" b="0" i="0" u="none" strike="noStrike" dirty="0">
                <a:effectLst/>
              </a:rPr>
              <a:t> (цены, наличие).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📖 </a:t>
            </a:r>
            <a:r>
              <a:rPr lang="ru-RU" sz="2000" b="1" dirty="0"/>
              <a:t>Управление заказами</a:t>
            </a:r>
            <a:r>
              <a:rPr lang="ru-RU" sz="2000" dirty="0"/>
              <a:t> (изменение статуса заказов).</a:t>
            </a:r>
            <a:endParaRPr lang="ru-RU" sz="2000" b="0" i="0" u="none" strike="noStrike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effectLst/>
              </a:rPr>
              <a:t>📊 </a:t>
            </a:r>
            <a:r>
              <a:rPr lang="ru-RU" sz="2000" b="1" i="0" u="none" strike="noStrike" dirty="0">
                <a:effectLst/>
              </a:rPr>
              <a:t>Аналитика</a:t>
            </a:r>
            <a:r>
              <a:rPr lang="ru-RU" sz="2000" b="0" i="0" u="none" strike="noStrike" dirty="0">
                <a:effectLst/>
              </a:rPr>
              <a:t> (отчеты по заказам).</a:t>
            </a:r>
          </a:p>
        </p:txBody>
      </p:sp>
    </p:spTree>
    <p:extLst>
      <p:ext uri="{BB962C8B-B14F-4D97-AF65-F5344CB8AC3E}">
        <p14:creationId xmlns:p14="http://schemas.microsoft.com/office/powerpoint/2010/main" val="126102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4689" y="452717"/>
            <a:ext cx="6553178" cy="3063214"/>
          </a:xfrm>
        </p:spPr>
        <p:txBody>
          <a:bodyPr/>
          <a:lstStyle/>
          <a:p>
            <a:r>
              <a:rPr lang="ru-RU" dirty="0" smtClean="0"/>
              <a:t>Демонстрация работы приложения </a:t>
            </a:r>
            <a:endParaRPr lang="ru-RU" dirty="0"/>
          </a:p>
        </p:txBody>
      </p:sp>
      <p:pic>
        <p:nvPicPr>
          <p:cNvPr id="4" name="video_2025-11-24_13-29-59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35445" y="249563"/>
            <a:ext cx="2938865" cy="6532735"/>
          </a:xfrm>
        </p:spPr>
      </p:pic>
    </p:spTree>
    <p:extLst>
      <p:ext uri="{BB962C8B-B14F-4D97-AF65-F5344CB8AC3E}">
        <p14:creationId xmlns:p14="http://schemas.microsoft.com/office/powerpoint/2010/main" val="9786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Технологический стек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1" dirty="0" smtClean="0"/>
              <a:t>Платформа: </a:t>
            </a:r>
            <a:r>
              <a:rPr lang="en-US" sz="2800" dirty="0" smtClean="0"/>
              <a:t>Android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 smtClean="0"/>
              <a:t>Язык программирования: </a:t>
            </a:r>
            <a:r>
              <a:rPr lang="en-US" sz="2800" dirty="0" err="1" smtClean="0"/>
              <a:t>Kotlin</a:t>
            </a:r>
            <a:endParaRPr lang="en-US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 smtClean="0"/>
              <a:t>База данных: </a:t>
            </a:r>
            <a:r>
              <a:rPr lang="en-US" sz="2800" dirty="0" smtClean="0"/>
              <a:t>SQLite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1" dirty="0" smtClean="0"/>
              <a:t>Архитектура: </a:t>
            </a:r>
            <a:r>
              <a:rPr lang="en-US" sz="2800" dirty="0"/>
              <a:t>MVVM (Model-View-</a:t>
            </a:r>
            <a:r>
              <a:rPr lang="en-US" sz="2800" dirty="0" err="1"/>
              <a:t>ViewModel</a:t>
            </a:r>
            <a:r>
              <a:rPr lang="en-US" sz="2800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978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 14" descr="абстрактный дизайн">
            <a:extLst>
              <a:ext uri="{FF2B5EF4-FFF2-40B4-BE49-F238E27FC236}">
                <a16:creationId xmlns:a16="http://schemas.microsoft.com/office/drawing/2014/main" xmlns="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xmlns="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Спасибо за внимание!</a:t>
            </a:r>
          </a:p>
        </p:txBody>
      </p:sp>
      <p:sp>
        <p:nvSpPr>
          <p:cNvPr id="13" name="Подзаголовок 12">
            <a:extLst>
              <a:ext uri="{FF2B5EF4-FFF2-40B4-BE49-F238E27FC236}">
                <a16:creationId xmlns:a16="http://schemas.microsoft.com/office/drawing/2014/main" xmlns="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>
            <a:normAutofit/>
          </a:bodyPr>
          <a:lstStyle/>
          <a:p>
            <a:pPr rtl="0"/>
            <a:endParaRPr lang="ru-RU" dirty="0"/>
          </a:p>
        </p:txBody>
      </p:sp>
      <p:sp>
        <p:nvSpPr>
          <p:cNvPr id="57" name="Прямоугольник 56">
            <a:extLst>
              <a:ext uri="{FF2B5EF4-FFF2-40B4-BE49-F238E27FC236}">
                <a16:creationId xmlns:a16="http://schemas.microsoft.com/office/drawing/2014/main" xmlns="" id="{318E9D62-7BA3-4D5E-8915-0D0E8661E3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5FFD32-E0A8-4E83-80B3-20612105D9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CC4F44-154A-4E67-B129-1B5389E9F993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purl.org/dc/elements/1.1/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6953E32-00D6-4FFB-AD6B-B2091BB328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Цифровое оформление</Template>
  <TotalTime>0</TotalTime>
  <Words>61</Words>
  <Application>Microsoft Office PowerPoint</Application>
  <PresentationFormat>Широкоэкранный</PresentationFormat>
  <Paragraphs>32</Paragraphs>
  <Slides>7</Slides>
  <Notes>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quote-cjk-patch</vt:lpstr>
      <vt:lpstr>Wingdings 3</vt:lpstr>
      <vt:lpstr>Ион</vt:lpstr>
      <vt:lpstr>Мобильное приложение «Ресторан»</vt:lpstr>
      <vt:lpstr>Обоснование выбора темы</vt:lpstr>
      <vt:lpstr>Цель</vt:lpstr>
      <vt:lpstr>Основные функции модуля</vt:lpstr>
      <vt:lpstr>Демонстрация работы приложения </vt:lpstr>
      <vt:lpstr>Технологический стек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2025-09-04T09:18:50Z</dcterms:created>
  <dcterms:modified xsi:type="dcterms:W3CDTF">2025-11-24T12:31:26Z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